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epulse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65760"/>
            <a:ext cx="3291840" cy="2194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Rapport J+7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Bilan de Lancement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80360"/>
            <a:ext cx="109728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Plateforme de données de l’écosystème startup marocain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</a:defRPr>
            </a:pPr>
            <a:r>
              <a:t>Période : 6 - 12 avril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7 jours après le lancement officiel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5569"/>
                </a:solidFill>
              </a:defRPr>
            </a:pPr>
            <a:r>
              <a:t>Rapport partenaires</a:t>
            </a:r>
          </a:p>
        </p:txBody>
      </p:sp>
      <p:pic>
        <p:nvPicPr>
          <p:cNvPr id="11" name="Picture 10" descr="um6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0292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UM6P</a:t>
            </a:r>
          </a:p>
        </p:txBody>
      </p:sp>
      <p:pic>
        <p:nvPicPr>
          <p:cNvPr id="13" name="Picture 12" descr="logo_omtpme-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5029200"/>
            <a:ext cx="165343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0312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OMTPME</a:t>
            </a:r>
          </a:p>
        </p:txBody>
      </p:sp>
      <p:pic>
        <p:nvPicPr>
          <p:cNvPr id="15" name="Picture 14" descr="tamwilcom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5029200"/>
            <a:ext cx="37915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9039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Tamwilcom</a:t>
            </a:r>
          </a:p>
        </p:txBody>
      </p:sp>
      <p:pic>
        <p:nvPicPr>
          <p:cNvPr id="17" name="Picture 16" descr="amic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5029200"/>
            <a:ext cx="100584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9496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AMIC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MTN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5074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5577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MESC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The Pulse  |  UM6P  |  thepulse.ma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Document confidentiel - Rapport partenaires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1.  Vue d’ensemble de la plateforme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The Pulse  |  J+7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Base de données écosystème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144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Données collectées, structurées et mises en ligne sur thepulse.ma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34440"/>
            <a:ext cx="201168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2 014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STARTUPS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1234440"/>
            <a:ext cx="20116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1 333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FONDATEURS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34440"/>
            <a:ext cx="20116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INVESTISSEURS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12280" y="1234440"/>
            <a:ext cx="201168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$226.8M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FONDS LEVÉS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057400"/>
            <a:ext cx="20116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TOURS DE TABLE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4600" y="2057400"/>
            <a:ext cx="20116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1460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INCUBATEURS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63440" y="2057400"/>
            <a:ext cx="20116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1 265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LIENS STARTUP-FONDATEUR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1228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12280" y="2057400"/>
            <a:ext cx="2011680" cy="50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228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RESSOURCES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26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Détail de la base de données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65760" y="3246120"/>
          <a:ext cx="8412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22960"/>
                <a:gridCol w="557784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CATÉGORIE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DÉTAIL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Startups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2 014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Répertoire complet des startups marocaines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Fondateurs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948 startups avec fondateur(s) identifié(s)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Investisseurs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Fonds d’investissement actifs au Maroc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Incubateurs / Accélérateurs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Programmes d’accompagnement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Tours de financement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Levées de fonds documentées ($226.8M total)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Experts référencés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Consultants et mentors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Ressources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Guides, rapports, outils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Articles / Actualités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Contenu éditorial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Membres inscrits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Comptes créés sur la plateforme (entrepreneurs, investisseurs, experts)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365760" y="649224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* Enrichissement continu : scraping multi-sources + validation manuelle. Objectif : 100% des startups avec fondateur(s) identifié(s).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2.  Trafic &amp; Audience  (Google Analytics)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6 - 12 avril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Indicateurs clés de trafic  (7 jours)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05840"/>
            <a:ext cx="27432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5824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2 441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22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SESSIONS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00584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05840"/>
            <a:ext cx="274320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15824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1 700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4122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UTILISATEURS ACTIFS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00584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005840"/>
            <a:ext cx="27432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15824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4122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NOUVEAUX UTILISATEURS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8288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74320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198120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57,7%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235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TAUX D’ENGAGEMENT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18288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1828800"/>
            <a:ext cx="27432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198120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1m 34s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235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DURÉE MOY. SESSION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18288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1828800"/>
            <a:ext cx="2743200" cy="50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198120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28 293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235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ÉVÉNEMENTS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697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Sources d’acquisition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1752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Direct  —  1 282 (52,5%)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2186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Recherche organique (Google)  —  967 (39,6%)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41985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Réseaux sociaux (LinkedIn)  —  111 (4,5%)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62102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Referrals (Medias24, etc.)  —  57 (2,3%)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2219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Autres  —  24 (1,0%)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Répartition géographique des utilisateurs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65760" y="4480560"/>
          <a:ext cx="539496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731520"/>
                <a:gridCol w="1188720"/>
                <a:gridCol w="100584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UTILISATEURS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TAUX ENGAGEMENT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DURÉE MOY.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Maroc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1 320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79,9%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57,7%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2m 22s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France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8,5%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62,3%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1m 45s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États-Unis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3,2%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36,5%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38s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Canada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1,8%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60,6%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1m 06s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Pays-Bas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78,3%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3m 17s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Royaume-Uni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56,3%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Allemagne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60,0%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1m 51s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Belgique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58,3%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29s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365760" y="65836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Source : Google Analytics (G-9TTHWMF6L0) - Période du 6 au 12 avril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3.  Pages les plus visitées &amp;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6 - 12 avril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Pages les plus consultées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0584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18872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UTILISATEURS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TAUX DE REBOND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Répertoire Startups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2 800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19,1%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Page d’accueil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36,5%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Rejoindre The Pulse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683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18,8%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Répertoire Fondateurs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11,5%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Répertoire Investisseurs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10,4%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Ressources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14,2%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Formulaire inscription startup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246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6,7%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Événements clés (interactions utilisateurs)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749039"/>
          <a:ext cx="7772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502920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ÉVÉNEMENT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INTERPRÉTATION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Pages vues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10 000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Navigation active sur la plateforme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Engagement utilisateur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Interactions significatives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Scroll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3 400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Consultation approfondie du contenu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Début de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2 400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Visites uniques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Première visite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1 600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Nouveaux visiteurs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Clics externes (sites startups)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Redirections vers sites des startups référencées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Recherches internes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Filtres par secteur, ville, stade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6126480"/>
            <a:ext cx="8412480" cy="59436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6126480"/>
            <a:ext cx="50800" cy="594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4476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</a:defRPr>
            </a:pPr>
            <a:r>
              <a:t>Point clé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8046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155"/>
                </a:solidFill>
              </a:defRPr>
            </a:pPr>
            <a:r>
              <a:t>44 inscriptions effectives sur la plateforme en 7 jours.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8046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155"/>
                </a:solidFill>
              </a:defRPr>
            </a:pPr>
            <a:r>
              <a:t>Forte activité de navigation et de découverte — objectif : conversion des visiteurs en membres actifs.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4.  Communauté &amp; Membres inscrits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Au 12 avril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Inscriptions à la plateforme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05840"/>
            <a:ext cx="201168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INSCRITS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14600" y="1005840"/>
            <a:ext cx="20116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CONFIRMÉS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1005840"/>
            <a:ext cx="201168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EN 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12280" y="1005840"/>
            <a:ext cx="20116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AVEC PHOTO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187451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Répartition par rôle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1945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Entrepreneurs  —  33 (75,0%)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3957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Investisseurs  —  5 (11,4%)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596896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Experts  —  3 (6,8%)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798064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Programmes / Incubateurs  —  3 (6,8%)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Inscriptions par jour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4290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6 avril (lancement)  :  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6118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7 avril  :  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7947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8 avril  : 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9776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9 avril  : 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1605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10 avril  : 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343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11 avril  : 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262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12 avril  : 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846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Engagement communautaire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5760" y="5166360"/>
          <a:ext cx="7680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22960"/>
                <a:gridCol w="457200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INDICATEUR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Messages directs échangés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Messagerie interne entre membres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Publications newsfeed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Posts de la communauté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Projets co-fondateur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Recherches de co-fondateurs actives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Membres avec mot de passe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Comptes pleinement activés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5.  Fonctionnalités déployées depuis le lancement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Produit &amp; Communauté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Évolution de la plateforme en 7 jours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1440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Au-delà de la base de données, The Pulse est devenue une plateforme communautaire active.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73152" cy="24688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533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Comptes &amp; Profils membres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Création de compte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928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Inscription via formulaires dédiés (entrepreneur, investisseur, expert).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Profils enrichis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3957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Photo, bio, LinkedIn, compétences, parcours.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9748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Édition &amp; mot de passe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986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Modification des infos et gestion du mot de passe.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00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Badge « New Pulser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01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Badge visuel sur les nouveaux membres inscrits.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128016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1280160"/>
            <a:ext cx="73152" cy="24688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3533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Interactions &amp; Communauté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6916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Envoi de Pulses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18928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Bouton « Envoyer un Pulse » pour saluer un membre.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945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Messagerie instantanée (Inbox)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957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Conversations 1-to-1 entre membres.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Newsfeed communautaire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28986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Publications, annonces, opportunités.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200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Projets co-fondateur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401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Espace dédié pour publier une recherche de co-fondateur.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3192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31920"/>
            <a:ext cx="73152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0050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Répertoires &amp; Découverte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343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Répertoire Startups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544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2 014 startups avec filtres secteur, ville, stade.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46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Répertoire Fondateurs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0474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1 333 fondateurs avec liens startups et LinkedIn.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492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Répertoire Investisseurs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5504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51 fonds avec thèses et tickets documentés.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8521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Talent Marketplace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0533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Mise en relation talents / startups.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393192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63440" y="3931920"/>
            <a:ext cx="73152" cy="24688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46320" y="40050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Administration &amp; Opérations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4343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Admin Pulsers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4544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Panneau d’administration des membres.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846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Confirmation de compte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83480" y="50474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Workflow de validation des inscriptions.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53492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Gestion des inscriptions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55504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Suivi des demandes en attente.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58521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Analytics &amp; Rapports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60533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Dashboards internes et génération de rapports PDF.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537960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The Pulse — d’une base de données à une véritable plateforme communautaire en 7 jours.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6.  Synthèse &amp; Prochaines étapes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Perspectives J+30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Synthèse J+7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Audience forte  </a:t>
            </a:r>
            <a:r>
              <a:rPr sz="850">
                <a:solidFill>
                  <a:srgbClr val="475569"/>
                </a:solidFill>
              </a:rPr>
              <a:t>1 700 utilisateurs actifs et 2 441 sessions en 7 jours, principalement depuis le Maroc (80%).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Acquisition organique  </a:t>
            </a:r>
            <a:r>
              <a:rPr sz="850">
                <a:solidFill>
                  <a:srgbClr val="475569"/>
                </a:solidFill>
              </a:rPr>
              <a:t>39,6% du trafic provient de la recherche Google, signe d’un bon référencement naturel.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Engagement élevé  </a:t>
            </a:r>
            <a:r>
              <a:rPr sz="850">
                <a:solidFill>
                  <a:srgbClr val="475569"/>
                </a:solidFill>
              </a:rPr>
              <a:t>57,7% de taux d’engagement, durée moyenne de session de 1m 34s, 44 inscriptions effectives en 7 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Communauté naissante  </a:t>
            </a:r>
            <a:r>
              <a:rPr sz="850">
                <a:solidFill>
                  <a:srgbClr val="475569"/>
                </a:solidFill>
              </a:rPr>
              <a:t>44 membres inscrits dont 33 entrepreneurs, 5 investisseurs, 3 experts et 3 programmes.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Base de données riche  </a:t>
            </a:r>
            <a:r>
              <a:rPr sz="850">
                <a:solidFill>
                  <a:srgbClr val="475569"/>
                </a:solidFill>
              </a:rPr>
              <a:t>2 014 startups, 1 333 fondateurs, 51 investisseurs, 171 tours de financement documentés.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Rayonnement international  </a:t>
            </a:r>
            <a:r>
              <a:rPr sz="850">
                <a:solidFill>
                  <a:srgbClr val="475569"/>
                </a:solidFill>
              </a:rPr>
              <a:t>Visiteurs de 8+ pays, avec une diaspora active (France 8,5%, USA 3,2%, Canada 1,8%).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91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Axes d’amélioration identifiés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Activation des 27 comptes en attente de confirmation (61% des inscrits)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Enrichissement fondateurs : 1 068 startups sans fondateur identifié (objectif : -50% à J+30)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14216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Augmentation du contenu éditorial et des publications communautaires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15384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Déploiement d’une stratégie d’acquisition sur LinkedIn et les réseaux sociaux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26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Objectifs J+30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8463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OBJECTIF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CIBLE J+30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PROGRESSION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Membres inscrits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Startups avec fondateur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Publications communauté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Sessions / semaine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2 441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53796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The Pulse  |  UM6P  |  thepulse.ma  |  Rapport généré le 12 avril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Page 7/7  |  Rapport partenaires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