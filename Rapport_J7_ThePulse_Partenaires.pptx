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62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thepulse-bla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0" y="365760"/>
            <a:ext cx="3291840" cy="2194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6459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</a:defRPr>
            </a:pPr>
            <a:r>
              <a:t>Rapport J+7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</a:defRPr>
            </a:pPr>
            <a:r>
              <a:t>Bilan de Lancement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880360"/>
            <a:ext cx="1097280" cy="508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31089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</a:defRPr>
            </a:pPr>
            <a:r>
              <a:t>Plateforme de données de l’écosystème startup marocain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749039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D4AA"/>
                </a:solidFill>
              </a:defRPr>
            </a:pPr>
            <a:r>
              <a:t>Période : 6 - 12 avril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0233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7 jours après le lancement officiel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6634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475569"/>
                </a:solidFill>
              </a:defRPr>
            </a:pPr>
            <a:r>
              <a:t>Rapport partenaires</a:t>
            </a:r>
          </a:p>
        </p:txBody>
      </p:sp>
      <p:pic>
        <p:nvPicPr>
          <p:cNvPr id="11" name="Picture 10" descr="um6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029200"/>
            <a:ext cx="502920" cy="502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7200" y="5577840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4748B"/>
                </a:solidFill>
              </a:defRPr>
            </a:pPr>
            <a:r>
              <a:t>UM6P</a:t>
            </a:r>
          </a:p>
        </p:txBody>
      </p:sp>
      <p:pic>
        <p:nvPicPr>
          <p:cNvPr id="13" name="Picture 12" descr="logo_omtpme-1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3120" y="5029200"/>
            <a:ext cx="1653436" cy="502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103120" y="5577840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4748B"/>
                </a:solidFill>
              </a:defRPr>
            </a:pPr>
            <a:r>
              <a:t>OMTPME</a:t>
            </a:r>
          </a:p>
        </p:txBody>
      </p:sp>
      <p:pic>
        <p:nvPicPr>
          <p:cNvPr id="15" name="Picture 14" descr="tamwilcom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49039" y="5029200"/>
            <a:ext cx="379155" cy="502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749039" y="5577840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4748B"/>
                </a:solidFill>
              </a:defRPr>
            </a:pPr>
            <a:r>
              <a:t>Tamwilcom</a:t>
            </a:r>
          </a:p>
        </p:txBody>
      </p:sp>
      <p:pic>
        <p:nvPicPr>
          <p:cNvPr id="17" name="Picture 16" descr="amic_log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94960" y="5029200"/>
            <a:ext cx="1005840" cy="502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394960" y="5577840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4748B"/>
                </a:solidFill>
              </a:defRPr>
            </a:pPr>
            <a:r>
              <a:t>AMIC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0" y="5577840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4748B"/>
                </a:solidFill>
              </a:defRPr>
            </a:pPr>
            <a:r>
              <a:t>MTN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86800" y="5029200"/>
            <a:ext cx="502920" cy="502920"/>
          </a:xfrm>
          <a:prstGeom prst="roundRect">
            <a:avLst>
              <a:gd name="adj" fmla="val 10000"/>
            </a:avLst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0" y="507492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95360" y="5577840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4748B"/>
                </a:solidFill>
              </a:defRPr>
            </a:pPr>
            <a:r>
              <a:t>MESC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217920"/>
            <a:ext cx="4572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475569"/>
                </a:solidFill>
              </a:defRPr>
            </a:pPr>
            <a:r>
              <a:t>The Pulse  |  UM6P  |  thepulse.ma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4572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475569"/>
                </a:solidFill>
              </a:defRPr>
            </a:pPr>
            <a:r>
              <a:t>Document confidentiel - Rapport partenaires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9144000" cy="508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hepulse-no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"/>
            <a:ext cx="41148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10972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1.  Vue d’ensemble de la plateforme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09728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The Pulse  |  J+7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858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</a:defRPr>
            </a:pPr>
            <a:r>
              <a:t>Base de données écosystème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914400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4748B"/>
                </a:solidFill>
              </a:defRPr>
            </a:pPr>
            <a:r>
              <a:t>Données collectées, structurées et mises en ligne sur thepulse.ma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234440"/>
            <a:ext cx="2011680" cy="6858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234440"/>
            <a:ext cx="2011680" cy="508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386840"/>
            <a:ext cx="201168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F172A"/>
                </a:solidFill>
              </a:defRPr>
            </a:pPr>
            <a:r>
              <a:t>2 014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164084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</a:defRPr>
            </a:pPr>
            <a:r>
              <a:t>STARTUPS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14600" y="1234440"/>
            <a:ext cx="2011680" cy="6858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514600" y="1234440"/>
            <a:ext cx="2011680" cy="508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14600" y="1386840"/>
            <a:ext cx="201168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F172A"/>
                </a:solidFill>
              </a:defRPr>
            </a:pPr>
            <a:r>
              <a:t>1 333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14600" y="164084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</a:defRPr>
            </a:pPr>
            <a:r>
              <a:t>FONDATEURS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663440" y="1234440"/>
            <a:ext cx="2011680" cy="6858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63440" y="1234440"/>
            <a:ext cx="2011680" cy="508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63440" y="1386840"/>
            <a:ext cx="201168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F172A"/>
                </a:solidFill>
              </a:defRPr>
            </a:pPr>
            <a:r>
              <a:t>51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164084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</a:defRPr>
            </a:pPr>
            <a:r>
              <a:t>INVESTISSEURS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12280" y="1234440"/>
            <a:ext cx="2011680" cy="6858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12280" y="1234440"/>
            <a:ext cx="2011680" cy="508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12280" y="1386840"/>
            <a:ext cx="201168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F172A"/>
                </a:solidFill>
              </a:defRPr>
            </a:pPr>
            <a:r>
              <a:t>$226.8M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12280" y="164084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</a:defRPr>
            </a:pPr>
            <a:r>
              <a:t>FONDS LEVÉS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" y="2057400"/>
            <a:ext cx="2011680" cy="6858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5760" y="2057400"/>
            <a:ext cx="2011680" cy="508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209800"/>
            <a:ext cx="201168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F172A"/>
                </a:solidFill>
              </a:defRPr>
            </a:pPr>
            <a:r>
              <a:t>171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46380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</a:defRPr>
            </a:pPr>
            <a:r>
              <a:t>TOURS DE TABLE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514600" y="2057400"/>
            <a:ext cx="2011680" cy="6858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514600" y="2057400"/>
            <a:ext cx="2011680" cy="508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514600" y="2209800"/>
            <a:ext cx="201168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F172A"/>
                </a:solidFill>
              </a:defRPr>
            </a:pPr>
            <a:r>
              <a:t>45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14600" y="246380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</a:defRPr>
            </a:pPr>
            <a:r>
              <a:t>INCUBATEURS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663440" y="2057400"/>
            <a:ext cx="2011680" cy="6858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663440" y="2057400"/>
            <a:ext cx="2011680" cy="508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663440" y="2209800"/>
            <a:ext cx="201168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F172A"/>
                </a:solidFill>
              </a:defRPr>
            </a:pPr>
            <a:r>
              <a:t>1 265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63440" y="246380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</a:defRPr>
            </a:pPr>
            <a:r>
              <a:t>LIENS STARTUP-FONDATEUR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812280" y="2057400"/>
            <a:ext cx="2011680" cy="6858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812280" y="2057400"/>
            <a:ext cx="2011680" cy="508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12280" y="2209800"/>
            <a:ext cx="201168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F172A"/>
                </a:solidFill>
              </a:defRPr>
            </a:pPr>
            <a:r>
              <a:t>21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12280" y="246380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</a:defRPr>
            </a:pPr>
            <a:r>
              <a:t>RESSOURCES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5760" y="29260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</a:defRPr>
            </a:pPr>
            <a:r>
              <a:t>Détail de la base de données</a:t>
            </a:r>
          </a:p>
        </p:txBody>
      </p:sp>
      <p:graphicFrame>
        <p:nvGraphicFramePr>
          <p:cNvPr id="42" name="Table 41"/>
          <p:cNvGraphicFramePr>
            <a:graphicFrameLocks noGrp="1"/>
          </p:cNvGraphicFramePr>
          <p:nvPr/>
        </p:nvGraphicFramePr>
        <p:xfrm>
          <a:off x="365760" y="3246120"/>
          <a:ext cx="84124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22960"/>
                <a:gridCol w="5577840"/>
              </a:tblGrid>
              <a:tr h="2743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CATÉGORIE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NOMBRE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DÉTAIL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F172A"/>
                          </a:solidFill>
                        </a:defRPr>
                      </a:pPr>
                      <a:r>
                        <a:t>Startups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2 014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Répertoire complet des startups marocaines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F172A"/>
                          </a:solidFill>
                        </a:defRPr>
                      </a:pPr>
                      <a:r>
                        <a:t>Fondateurs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1 333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948 startups avec fondateur(s) identifié(s)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F172A"/>
                          </a:solidFill>
                        </a:defRPr>
                      </a:pPr>
                      <a:r>
                        <a:t>Investisseurs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51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Fonds d’investissement actifs au Maroc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F172A"/>
                          </a:solidFill>
                        </a:defRPr>
                      </a:pPr>
                      <a:r>
                        <a:t>Incubateurs / Accélérateurs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Programmes d’accompagnement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F172A"/>
                          </a:solidFill>
                        </a:defRPr>
                      </a:pPr>
                      <a:r>
                        <a:t>Tours de financement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171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Levées de fonds documentées ($226.8M total)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F172A"/>
                          </a:solidFill>
                        </a:defRPr>
                      </a:pPr>
                      <a:r>
                        <a:t>Experts référencés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Consultants et mentors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F172A"/>
                          </a:solidFill>
                        </a:defRPr>
                      </a:pPr>
                      <a:r>
                        <a:t>Ressources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21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Guides, rapports, outils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F172A"/>
                          </a:solidFill>
                        </a:defRPr>
                      </a:pPr>
                      <a:r>
                        <a:t>Articles / Actualités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Contenu éditorial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F172A"/>
                          </a:solidFill>
                        </a:defRPr>
                      </a:pPr>
                      <a:r>
                        <a:t>Membres inscrits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44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Comptes créés sur la plateforme (entrepreneurs, investisseurs, experts)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43" name="TextBox 42"/>
          <p:cNvSpPr txBox="1"/>
          <p:nvPr/>
        </p:nvSpPr>
        <p:spPr>
          <a:xfrm>
            <a:off x="365760" y="6492240"/>
            <a:ext cx="8229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4748B"/>
                </a:solidFill>
              </a:defRPr>
            </a:pPr>
            <a:r>
              <a:t>* Enrichissement continu : scraping multi-sources + validation manuelle. Objectif : 100% des startups avec fondateur(s) identifié(s).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9144000" cy="508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hepulse-no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"/>
            <a:ext cx="41148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10972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2.  Trafic &amp; Audience  (Google Analytics)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09728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6 - 12 avril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858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</a:defRPr>
            </a:pPr>
            <a:r>
              <a:t>Indicateurs clés de trafic  (7 jours)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005840"/>
            <a:ext cx="2743200" cy="6858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005840"/>
            <a:ext cx="2743200" cy="508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158240"/>
            <a:ext cx="27432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F172A"/>
                </a:solidFill>
              </a:defRPr>
            </a:pPr>
            <a:r>
              <a:t>2 441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41224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</a:defRPr>
            </a:pPr>
            <a:r>
              <a:t>SESSIONS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46120" y="1005840"/>
            <a:ext cx="2743200" cy="6858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46120" y="1005840"/>
            <a:ext cx="2743200" cy="508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46120" y="1158240"/>
            <a:ext cx="27432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F172A"/>
                </a:solidFill>
              </a:defRPr>
            </a:pPr>
            <a:r>
              <a:t>1 700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46120" y="141224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</a:defRPr>
            </a:pPr>
            <a:r>
              <a:t>UTILISATEURS ACTIFS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1005840"/>
            <a:ext cx="2743200" cy="6858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26480" y="1005840"/>
            <a:ext cx="2743200" cy="508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6480" y="1158240"/>
            <a:ext cx="27432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F172A"/>
                </a:solidFill>
              </a:defRPr>
            </a:pPr>
            <a:r>
              <a:t>1 600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0" y="141224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</a:defRPr>
            </a:pPr>
            <a:r>
              <a:t>NOUVEAUX UTILISATEURS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1828800"/>
            <a:ext cx="2743200" cy="6858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65760" y="1828800"/>
            <a:ext cx="2743200" cy="508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1981200"/>
            <a:ext cx="27432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F172A"/>
                </a:solidFill>
              </a:defRPr>
            </a:pPr>
            <a:r>
              <a:t>57,7%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223520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</a:defRPr>
            </a:pPr>
            <a:r>
              <a:t>TAUX D’ENGAGEMENT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46120" y="1828800"/>
            <a:ext cx="2743200" cy="6858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246120" y="1828800"/>
            <a:ext cx="2743200" cy="508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46120" y="1981200"/>
            <a:ext cx="27432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F172A"/>
                </a:solidFill>
              </a:defRPr>
            </a:pPr>
            <a:r>
              <a:t>1m 34s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46120" y="223520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</a:defRPr>
            </a:pPr>
            <a:r>
              <a:t>DURÉE MOY. SESSION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26480" y="1828800"/>
            <a:ext cx="2743200" cy="6858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26480" y="1828800"/>
            <a:ext cx="2743200" cy="508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26480" y="1981200"/>
            <a:ext cx="27432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F172A"/>
                </a:solidFill>
              </a:defRPr>
            </a:pPr>
            <a:r>
              <a:t>28 293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26480" y="223520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</a:defRPr>
            </a:pPr>
            <a:r>
              <a:t>ÉVÉNEMENTS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26974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</a:defRPr>
            </a:pPr>
            <a:r>
              <a:t>Sources d’acquisition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3017520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0F172A"/>
                </a:solidFill>
              </a:defRPr>
            </a:pPr>
            <a:r>
              <a:t>Direct  —  1 282 (52,5%)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3218688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0F172A"/>
                </a:solidFill>
              </a:defRPr>
            </a:pPr>
            <a:r>
              <a:t>Recherche organique (Google)  —  967 (39,6%)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3419856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0F172A"/>
                </a:solidFill>
              </a:defRPr>
            </a:pPr>
            <a:r>
              <a:t>Réseaux sociaux (LinkedIn)  —  111 (4,5%)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621024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0F172A"/>
                </a:solidFill>
              </a:defRPr>
            </a:pPr>
            <a:r>
              <a:t>Referrals (Medias24, etc.)  —  57 (2,3%)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3822192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0F172A"/>
                </a:solidFill>
              </a:defRPr>
            </a:pPr>
            <a:r>
              <a:t>Autres  —  24 (1,0%)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" y="4160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</a:defRPr>
            </a:pPr>
            <a:r>
              <a:t>Répartition géographique des utilisateurs</a:t>
            </a:r>
          </a:p>
        </p:txBody>
      </p:sp>
      <p:graphicFrame>
        <p:nvGraphicFramePr>
          <p:cNvPr id="39" name="Table 38"/>
          <p:cNvGraphicFramePr>
            <a:graphicFrameLocks noGrp="1"/>
          </p:cNvGraphicFramePr>
          <p:nvPr/>
        </p:nvGraphicFramePr>
        <p:xfrm>
          <a:off x="365760" y="4480560"/>
          <a:ext cx="5394960" cy="24688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005840"/>
                <a:gridCol w="731520"/>
                <a:gridCol w="1188720"/>
                <a:gridCol w="1005840"/>
              </a:tblGrid>
              <a:tr h="27431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PAYS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UTILISATEURS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PART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TAUX ENGAGEMENT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DURÉE MOY.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F172A"/>
                          </a:solidFill>
                        </a:defRPr>
                      </a:pPr>
                      <a:r>
                        <a:t>Maroc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1 320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79,9%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57,7%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2m 22s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F172A"/>
                          </a:solidFill>
                        </a:defRPr>
                      </a:pPr>
                      <a:r>
                        <a:t>France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141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8,5%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62,3%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1m 45s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F172A"/>
                          </a:solidFill>
                        </a:defRPr>
                      </a:pPr>
                      <a:r>
                        <a:t>États-Unis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52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3,2%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36,5%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38s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F172A"/>
                          </a:solidFill>
                        </a:defRPr>
                      </a:pPr>
                      <a:r>
                        <a:t>Canada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1,8%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60,6%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1m 06s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F172A"/>
                          </a:solidFill>
                        </a:defRPr>
                      </a:pPr>
                      <a:r>
                        <a:t>Pays-Bas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15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0,9%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78,3%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3m 17s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F172A"/>
                          </a:solidFill>
                        </a:defRPr>
                      </a:pPr>
                      <a:r>
                        <a:t>Royaume-Uni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0,9%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56,3%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33s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F172A"/>
                          </a:solidFill>
                        </a:defRPr>
                      </a:pPr>
                      <a:r>
                        <a:t>Allemagne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11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0,7%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60,0%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1m 51s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27432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F172A"/>
                          </a:solidFill>
                        </a:defRPr>
                      </a:pPr>
                      <a:r>
                        <a:t>Belgique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0,5%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58,3%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29s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0" name="TextBox 39"/>
          <p:cNvSpPr txBox="1"/>
          <p:nvPr/>
        </p:nvSpPr>
        <p:spPr>
          <a:xfrm>
            <a:off x="365760" y="6583680"/>
            <a:ext cx="8229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4748B"/>
                </a:solidFill>
              </a:defRPr>
            </a:pPr>
            <a:r>
              <a:t>Source : Google Analytics (G-9TTHWMF6L0) - Période du 6 au 12 avril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9144000" cy="508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hepulse-no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"/>
            <a:ext cx="41148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10972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3.  Pages les plus visitées &amp; Engagement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09728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6 - 12 avril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858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</a:defRPr>
            </a:pPr>
            <a:r>
              <a:t>Pages les plus consultées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1005840"/>
          <a:ext cx="62179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731520"/>
                <a:gridCol w="1005840"/>
                <a:gridCol w="914400"/>
                <a:gridCol w="1371600"/>
              </a:tblGrid>
              <a:tr h="2743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PAGE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VUES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UTILISATEURS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REBOND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VS MOYENNE*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F172A"/>
                          </a:solidFill>
                        </a:defRPr>
                      </a:pPr>
                      <a:r>
                        <a:t>Répertoire Startups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2 800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623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19,1%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▲ Page #1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F172A"/>
                          </a:solidFill>
                        </a:defRPr>
                      </a:pPr>
                      <a:r>
                        <a:t>Page d’accueil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1 800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1 200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36,5%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Rebond moyen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F172A"/>
                          </a:solidFill>
                        </a:defRPr>
                      </a:pPr>
                      <a:r>
                        <a:t>Rejoindre The Pulse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952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683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18,8%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▲ Fort intérêt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F172A"/>
                          </a:solidFill>
                        </a:defRPr>
                      </a:pPr>
                      <a:r>
                        <a:t>Répertoire Fondateurs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536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195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11,5%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▲ Très engagé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F172A"/>
                          </a:solidFill>
                        </a:defRPr>
                      </a:pPr>
                      <a:r>
                        <a:t>Répertoire Investisseurs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381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164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10,4%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▲ Très engagé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F172A"/>
                          </a:solidFill>
                        </a:defRPr>
                      </a:pPr>
                      <a:r>
                        <a:t>Ressources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282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216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14,2%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▲ Engagé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F172A"/>
                          </a:solidFill>
                        </a:defRPr>
                      </a:pPr>
                      <a:r>
                        <a:t>Formulaire inscription startup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246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210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6,7%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▲▲ Excellent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65760" y="3246120"/>
            <a:ext cx="8229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4748B"/>
                </a:solidFill>
              </a:defRPr>
            </a:pPr>
            <a:r>
              <a:t>* Moyenne taux de rebond SaaS B2B : 40-60% (source : CXL / Contentsquare 2025). The Pulse est largement en dessous.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5204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</a:defRPr>
            </a:pPr>
            <a:r>
              <a:t>Tendance des visites (J1 → J7)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840480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F172A"/>
                </a:solidFill>
              </a:defRPr>
            </a:pPr>
            <a:r>
              <a:t>J1 (6 avr)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691640" y="3858768"/>
            <a:ext cx="1582615" cy="182880"/>
          </a:xfrm>
          <a:prstGeom prst="roundRect">
            <a:avLst>
              <a:gd name="adj" fmla="val 15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65695" y="384048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0F172A"/>
                </a:solidFill>
              </a:defRPr>
            </a:pPr>
            <a:r>
              <a:t>180 sess.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133088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F172A"/>
                </a:solidFill>
              </a:defRPr>
            </a:pPr>
            <a:r>
              <a:t>J2 (7 avr)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691640" y="4151376"/>
            <a:ext cx="1934307" cy="182880"/>
          </a:xfrm>
          <a:prstGeom prst="roundRect">
            <a:avLst>
              <a:gd name="adj" fmla="val 15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17387" y="4133088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0F172A"/>
                </a:solidFill>
              </a:defRPr>
            </a:pPr>
            <a:r>
              <a:t>220 sess.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425696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F172A"/>
                </a:solidFill>
              </a:defRPr>
            </a:pPr>
            <a:r>
              <a:t>J3 (8 avr)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691640" y="4443984"/>
            <a:ext cx="2549769" cy="182880"/>
          </a:xfrm>
          <a:prstGeom prst="roundRect">
            <a:avLst>
              <a:gd name="adj" fmla="val 15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32849" y="4425696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0F172A"/>
                </a:solidFill>
              </a:defRPr>
            </a:pPr>
            <a:r>
              <a:t>290 sess.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718304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F172A"/>
                </a:solidFill>
              </a:defRPr>
            </a:pPr>
            <a:r>
              <a:t>J4 (9 avr)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691640" y="4736592"/>
            <a:ext cx="4572000" cy="182880"/>
          </a:xfrm>
          <a:prstGeom prst="roundRect">
            <a:avLst>
              <a:gd name="adj" fmla="val 15000"/>
            </a:avLst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4718304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0F172A"/>
                </a:solidFill>
              </a:defRPr>
            </a:pPr>
            <a:r>
              <a:t>520 sess.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010912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F172A"/>
                </a:solidFill>
              </a:defRPr>
            </a:pPr>
            <a:r>
              <a:t>J5 (10 avr)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691640" y="5029200"/>
            <a:ext cx="4220307" cy="182880"/>
          </a:xfrm>
          <a:prstGeom prst="roundRect">
            <a:avLst>
              <a:gd name="adj" fmla="val 15000"/>
            </a:avLst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03387" y="5010912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0F172A"/>
                </a:solidFill>
              </a:defRPr>
            </a:pPr>
            <a:r>
              <a:t>480 sess.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303520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F172A"/>
                </a:solidFill>
              </a:defRPr>
            </a:pPr>
            <a:r>
              <a:t>J6 (11 avr)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691640" y="5321808"/>
            <a:ext cx="3604846" cy="182880"/>
          </a:xfrm>
          <a:prstGeom prst="roundRect">
            <a:avLst>
              <a:gd name="adj" fmla="val 15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387926" y="530352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0F172A"/>
                </a:solidFill>
              </a:defRPr>
            </a:pPr>
            <a:r>
              <a:t>410 sess.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5596128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F172A"/>
                </a:solidFill>
              </a:defRPr>
            </a:pPr>
            <a:r>
              <a:t>J7 (12 avr)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691640" y="5614416"/>
            <a:ext cx="2998176" cy="182880"/>
          </a:xfrm>
          <a:prstGeom prst="roundRect">
            <a:avLst>
              <a:gd name="adj" fmla="val 15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81256" y="5596128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0F172A"/>
                </a:solidFill>
              </a:defRPr>
            </a:pPr>
            <a:r>
              <a:t>341 sess.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5943600"/>
            <a:ext cx="8229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D4AA"/>
                </a:solidFill>
              </a:defRPr>
            </a:pPr>
            <a:r>
              <a:t>▲ Pic J4 (9 avril) : +189% vs J1 — effet du lancement LinkedIn + partage communauté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65760" y="6217920"/>
            <a:ext cx="8412480" cy="502920"/>
          </a:xfrm>
          <a:prstGeom prst="roundRect">
            <a:avLst>
              <a:gd name="adj" fmla="val 5000"/>
            </a:avLst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65760" y="6217920"/>
            <a:ext cx="50800" cy="50292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6236208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F172A"/>
                </a:solidFill>
              </a:defRPr>
            </a:pPr>
            <a:r>
              <a:t>Point clé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6419088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334155"/>
                </a:solidFill>
              </a:defRPr>
            </a:pPr>
            <a:r>
              <a:t>Taux de rebond moyen de 16,6% vs 40-60% pour un SaaS B2B — les visiteurs explorent activement la plateforme. 44 inscriptions en 7 jours avec un pic à J4.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9144000" cy="508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hepulse-no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"/>
            <a:ext cx="41148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10972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4.  Communauté &amp; Membres inscrits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09728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Au 12 avril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858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</a:defRPr>
            </a:pPr>
            <a:r>
              <a:t>Inscriptions à la plateforme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005840"/>
            <a:ext cx="2011680" cy="6858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005840"/>
            <a:ext cx="2011680" cy="508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158240"/>
            <a:ext cx="201168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F172A"/>
                </a:solidFill>
              </a:defRPr>
            </a:pPr>
            <a:r>
              <a:t>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41224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</a:defRPr>
            </a:pPr>
            <a:r>
              <a:t>INSCRITS TOTAL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14600" y="1005840"/>
            <a:ext cx="2011680" cy="6858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514600" y="1005840"/>
            <a:ext cx="2011680" cy="508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14600" y="1158240"/>
            <a:ext cx="201168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F172A"/>
                </a:solidFill>
              </a:defRPr>
            </a:pPr>
            <a:r>
              <a:t>17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14600" y="141224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</a:defRPr>
            </a:pPr>
            <a:r>
              <a:t>CONFIRMÉS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1005840"/>
            <a:ext cx="2011680" cy="6858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663440" y="1005840"/>
            <a:ext cx="2011680" cy="508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63440" y="1158240"/>
            <a:ext cx="201168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F172A"/>
                </a:solidFill>
              </a:defRPr>
            </a:pPr>
            <a:r>
              <a:t>27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3440" y="141224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</a:defRPr>
            </a:pPr>
            <a:r>
              <a:t>EN ATTENTE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12280" y="1005840"/>
            <a:ext cx="2011680" cy="6858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812280" y="1005840"/>
            <a:ext cx="2011680" cy="508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12280" y="1158240"/>
            <a:ext cx="201168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F172A"/>
                </a:solidFill>
              </a:defRPr>
            </a:pPr>
            <a:r>
              <a:t>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12280" y="141224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</a:defRPr>
            </a:pPr>
            <a:r>
              <a:t>AVEC PHOTO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1874519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</a:defRPr>
            </a:pPr>
            <a:r>
              <a:t>Répartition par rôle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2194560"/>
            <a:ext cx="4572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F172A"/>
                </a:solidFill>
              </a:defRPr>
            </a:pPr>
            <a:r>
              <a:t>Entrepreneurs  —  33 (75,0%)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2395728"/>
            <a:ext cx="4572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F172A"/>
                </a:solidFill>
              </a:defRPr>
            </a:pPr>
            <a:r>
              <a:t>Investisseurs  —  5 (11,4%)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2596896"/>
            <a:ext cx="4572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F172A"/>
                </a:solidFill>
              </a:defRPr>
            </a:pPr>
            <a:r>
              <a:t>Experts  —  3 (6,8%)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2798064"/>
            <a:ext cx="4572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F172A"/>
                </a:solidFill>
              </a:defRPr>
            </a:pPr>
            <a:r>
              <a:t>Programmes / Incubateurs  —  3 (6,8%)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3108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</a:defRPr>
            </a:pPr>
            <a:r>
              <a:t>Inscriptions par jour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342900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0F172A"/>
                </a:solidFill>
              </a:defRPr>
            </a:pPr>
            <a:r>
              <a:t>6 avril (lancement)  :  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361188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0F172A"/>
                </a:solidFill>
              </a:defRPr>
            </a:pPr>
            <a:r>
              <a:t>7 avril  :  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79476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0F172A"/>
                </a:solidFill>
              </a:defRPr>
            </a:pPr>
            <a:r>
              <a:t>8 avril  :  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397764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0F172A"/>
                </a:solidFill>
              </a:defRPr>
            </a:pPr>
            <a:r>
              <a:t>9 avril  :  29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416052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0F172A"/>
                </a:solidFill>
              </a:defRPr>
            </a:pPr>
            <a:r>
              <a:t>10 avril  :  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434340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0F172A"/>
                </a:solidFill>
              </a:defRPr>
            </a:pPr>
            <a:r>
              <a:t>11 avril  :  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452628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0F172A"/>
                </a:solidFill>
              </a:defRPr>
            </a:pPr>
            <a:r>
              <a:t>12 avril  :  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48463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</a:defRPr>
            </a:pPr>
            <a:r>
              <a:t>Engagement communautaire</a:t>
            </a:r>
          </a:p>
        </p:txBody>
      </p:sp>
      <p:graphicFrame>
        <p:nvGraphicFramePr>
          <p:cNvPr id="38" name="Table 37"/>
          <p:cNvGraphicFramePr>
            <a:graphicFrameLocks noGrp="1"/>
          </p:cNvGraphicFramePr>
          <p:nvPr/>
        </p:nvGraphicFramePr>
        <p:xfrm>
          <a:off x="365760" y="5166360"/>
          <a:ext cx="768096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822960"/>
                <a:gridCol w="4572000"/>
              </a:tblGrid>
              <a:tr h="2743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INDICATEUR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VALEUR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COMMENTAIRE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F172A"/>
                          </a:solidFill>
                        </a:defRPr>
                      </a:pPr>
                      <a:r>
                        <a:t>Messages directs échangés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Messagerie interne entre membres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F172A"/>
                          </a:solidFill>
                        </a:defRPr>
                      </a:pPr>
                      <a:r>
                        <a:t>Publications newsfeed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Posts de la communauté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F172A"/>
                          </a:solidFill>
                        </a:defRPr>
                      </a:pPr>
                      <a:r>
                        <a:t>Projets co-fondateur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Recherches de co-fondateurs actives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F172A"/>
                          </a:solidFill>
                        </a:defRPr>
                      </a:pPr>
                      <a:r>
                        <a:t>Membres avec mot de passe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Comptes pleinement activés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9" name="Rounded Rectangle 38"/>
          <p:cNvSpPr/>
          <p:nvPr/>
        </p:nvSpPr>
        <p:spPr>
          <a:xfrm>
            <a:off x="365760" y="6263640"/>
            <a:ext cx="8412480" cy="502920"/>
          </a:xfrm>
          <a:prstGeom prst="roundRect">
            <a:avLst>
              <a:gd name="adj" fmla="val 6000"/>
            </a:avLst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6291072"/>
            <a:ext cx="8046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🤝  Appel aux partenaires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6510528"/>
            <a:ext cx="8046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E8DAFF"/>
                </a:solidFill>
              </a:defRPr>
            </a:pPr>
            <a:r>
              <a:t>Aidez-nous à promouvoir The Pulse ! Partagez la plateforme avec vos réseaux, startups et communautés pour accélérer l’adoption.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9144000" cy="508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hepulse-no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"/>
            <a:ext cx="41148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10972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5.  Fonctionnalités déployées depuis le lancement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09728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Produit &amp; Communauté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85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</a:defRPr>
            </a:pPr>
            <a:r>
              <a:t>Évolution de la plateforme en 7 jours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91440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4748B"/>
                </a:solidFill>
              </a:defRPr>
            </a:pPr>
            <a:r>
              <a:t>Au-delà de la base de données, The Pulse est devenue une plateforme communautaire active.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280160"/>
            <a:ext cx="4206240" cy="2468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280160"/>
            <a:ext cx="73152" cy="24688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353312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F172A"/>
                </a:solidFill>
              </a:defRPr>
            </a:pPr>
            <a:r>
              <a:t>Comptes &amp; Profils membres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691640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F172A"/>
                </a:solidFill>
              </a:defRPr>
            </a:pPr>
            <a:r>
              <a:t>• Création de compte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1892808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475569"/>
                </a:solidFill>
              </a:defRPr>
            </a:pPr>
            <a:r>
              <a:t>Inscription via formulaires dédiés (entrepreneur, investisseur, expert).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194560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F172A"/>
                </a:solidFill>
              </a:defRPr>
            </a:pPr>
            <a:r>
              <a:t>• Profils enrichis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395728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475569"/>
                </a:solidFill>
              </a:defRPr>
            </a:pPr>
            <a:r>
              <a:t>Photo, bio, LinkedIn, compétences, parcours.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697480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F172A"/>
                </a:solidFill>
              </a:defRPr>
            </a:pPr>
            <a:r>
              <a:t>• Édition &amp; mot de passe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2898648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475569"/>
                </a:solidFill>
              </a:defRPr>
            </a:pPr>
            <a:r>
              <a:t>Modification des infos et gestion du mot de passe.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200400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F172A"/>
                </a:solidFill>
              </a:defRPr>
            </a:pPr>
            <a:r>
              <a:t>• Badge « New Pulser 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3401568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475569"/>
                </a:solidFill>
              </a:defRPr>
            </a:pPr>
            <a:r>
              <a:t>Badge visuel sur les nouveaux membres inscrits.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63440" y="1280160"/>
            <a:ext cx="4206240" cy="2468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63440" y="1280160"/>
            <a:ext cx="73152" cy="246888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46320" y="1353312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F172A"/>
                </a:solidFill>
              </a:defRPr>
            </a:pPr>
            <a:r>
              <a:t>Interactions &amp; Communauté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6320" y="1691640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F172A"/>
                </a:solidFill>
              </a:defRPr>
            </a:pPr>
            <a:r>
              <a:t>• Envoi de Pulses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83480" y="1892808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475569"/>
                </a:solidFill>
              </a:defRPr>
            </a:pPr>
            <a:r>
              <a:t>Bouton « Envoyer un Pulse » pour saluer un membre.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46320" y="2194560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F172A"/>
                </a:solidFill>
              </a:defRPr>
            </a:pPr>
            <a:r>
              <a:t>• Messagerie instantanée (Inbox)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83480" y="2395728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475569"/>
                </a:solidFill>
              </a:defRPr>
            </a:pPr>
            <a:r>
              <a:t>Conversations 1-to-1 entre membres.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46320" y="2697480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F172A"/>
                </a:solidFill>
              </a:defRPr>
            </a:pPr>
            <a:r>
              <a:t>• Newsfeed communautaire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83480" y="2898648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475569"/>
                </a:solidFill>
              </a:defRPr>
            </a:pPr>
            <a:r>
              <a:t>Publications, annonces, opportunités.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3200400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F172A"/>
                </a:solidFill>
              </a:defRPr>
            </a:pPr>
            <a:r>
              <a:t>• Projets co-fondateur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83480" y="3401568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475569"/>
                </a:solidFill>
              </a:defRPr>
            </a:pPr>
            <a:r>
              <a:t>Espace dédié pour publier une recherche de co-fondateur.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65760" y="3931920"/>
            <a:ext cx="4206240" cy="2468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65760" y="3931920"/>
            <a:ext cx="73152" cy="246888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4005072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F172A"/>
                </a:solidFill>
              </a:defRPr>
            </a:pPr>
            <a:r>
              <a:t>Répertoires &amp; Découverte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4343400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F172A"/>
                </a:solidFill>
              </a:defRPr>
            </a:pPr>
            <a:r>
              <a:t>• Répertoire Startups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4544568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475569"/>
                </a:solidFill>
              </a:defRPr>
            </a:pPr>
            <a:r>
              <a:t>2 014 startups avec filtres secteur, ville, stade.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4846320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F172A"/>
                </a:solidFill>
              </a:defRPr>
            </a:pPr>
            <a:r>
              <a:t>• Répertoire Fondateurs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5047488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475569"/>
                </a:solidFill>
              </a:defRPr>
            </a:pPr>
            <a:r>
              <a:t>1 333 fondateurs avec liens startups et LinkedIn.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5349240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F172A"/>
                </a:solidFill>
              </a:defRPr>
            </a:pPr>
            <a:r>
              <a:t>• Répertoire Investisseurs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5550408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475569"/>
                </a:solidFill>
              </a:defRPr>
            </a:pPr>
            <a:r>
              <a:t>51 fonds avec thèses et tickets documentés.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5852160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F172A"/>
                </a:solidFill>
              </a:defRPr>
            </a:pPr>
            <a:r>
              <a:t>• Talent Marketplace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" y="6053328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475569"/>
                </a:solidFill>
              </a:defRPr>
            </a:pPr>
            <a:r>
              <a:t>Mise en relation talents / startups.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663440" y="3931920"/>
            <a:ext cx="4206240" cy="2468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663440" y="3931920"/>
            <a:ext cx="73152" cy="246888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846320" y="4005072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F172A"/>
                </a:solidFill>
              </a:defRPr>
            </a:pPr>
            <a:r>
              <a:t>Administration &amp; Opérations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46320" y="4343400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F172A"/>
                </a:solidFill>
              </a:defRPr>
            </a:pPr>
            <a:r>
              <a:t>• Admin Pulsers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983480" y="4544568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475569"/>
                </a:solidFill>
              </a:defRPr>
            </a:pPr>
            <a:r>
              <a:t>Panneau d’administration des membres.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846320" y="4846320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F172A"/>
                </a:solidFill>
              </a:defRPr>
            </a:pPr>
            <a:r>
              <a:t>• Confirmation de compte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983480" y="5047488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475569"/>
                </a:solidFill>
              </a:defRPr>
            </a:pPr>
            <a:r>
              <a:t>Workflow de validation des inscriptions.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5349240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F172A"/>
                </a:solidFill>
              </a:defRPr>
            </a:pPr>
            <a:r>
              <a:t>• Gestion des inscriptions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983480" y="5550408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475569"/>
                </a:solidFill>
              </a:defRPr>
            </a:pPr>
            <a:r>
              <a:t>Suivi des demandes en attente.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846320" y="5852160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F172A"/>
                </a:solidFill>
              </a:defRPr>
            </a:pPr>
            <a:r>
              <a:t>• Analytics &amp; Rapports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983480" y="6053328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475569"/>
                </a:solidFill>
              </a:defRPr>
            </a:pPr>
            <a:r>
              <a:t>Dashboards internes et génération de rapports PDF.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65760" y="6537960"/>
            <a:ext cx="8412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</a:defRPr>
            </a:pPr>
            <a:r>
              <a:t>The Pulse — d’une base de données à une véritable plateforme communautaire en 7 jours.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9144000" cy="508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hepulse-no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"/>
            <a:ext cx="41148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10972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6.  Synthèse &amp; Prochaines étapes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09728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Perspectives J+30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858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</a:defRPr>
            </a:pPr>
            <a:r>
              <a:t>Synthèse J+7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F172A"/>
                </a:solidFill>
              </a:rPr>
              <a:t>● Audience forte  </a:t>
            </a:r>
            <a:r>
              <a:rPr sz="850">
                <a:solidFill>
                  <a:srgbClr val="475569"/>
                </a:solidFill>
              </a:rPr>
              <a:t>1 700 utilisateurs actifs et 2 441 sessions en 7 jours, principalement depuis le Maroc (80%).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F172A"/>
                </a:solidFill>
              </a:rPr>
              <a:t>● Acquisition organique  </a:t>
            </a:r>
            <a:r>
              <a:rPr sz="850">
                <a:solidFill>
                  <a:srgbClr val="475569"/>
                </a:solidFill>
              </a:rPr>
              <a:t>39,6% du trafic provient de la recherche Google, signe d’un bon référencement naturel.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7373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F172A"/>
                </a:solidFill>
              </a:rPr>
              <a:t>● Engagement élevé  </a:t>
            </a:r>
            <a:r>
              <a:rPr sz="850">
                <a:solidFill>
                  <a:srgbClr val="475569"/>
                </a:solidFill>
              </a:rPr>
              <a:t>57,7% de taux d’engagement, durée moyenne de session de 1m 34s, 44 inscriptions effectives en 7 jours.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1031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F172A"/>
                </a:solidFill>
              </a:rPr>
              <a:t>● Communauté naissante  </a:t>
            </a:r>
            <a:r>
              <a:rPr sz="850">
                <a:solidFill>
                  <a:srgbClr val="475569"/>
                </a:solidFill>
              </a:rPr>
              <a:t>44 membres inscrits dont 33 entrepreneurs, 5 investisseurs, 3 experts et 3 programmes.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4688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F172A"/>
                </a:solidFill>
              </a:rPr>
              <a:t>● Base de données riche  </a:t>
            </a:r>
            <a:r>
              <a:rPr sz="850">
                <a:solidFill>
                  <a:srgbClr val="475569"/>
                </a:solidFill>
              </a:rPr>
              <a:t>2 014 startups, 1 333 fondateurs, 51 investisseurs, 171 tours de financement documentés.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834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F172A"/>
                </a:solidFill>
              </a:rPr>
              <a:t>● Rayonnement international  </a:t>
            </a:r>
            <a:r>
              <a:rPr sz="850">
                <a:solidFill>
                  <a:srgbClr val="475569"/>
                </a:solidFill>
              </a:rPr>
              <a:t>Visiteurs de 8+ pays, avec une diaspora active (France 8,5%, USA 3,2%, Canada 1,8%).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2918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</a:defRPr>
            </a:pPr>
            <a:r>
              <a:t>Axes d’amélioration identifiés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611880"/>
            <a:ext cx="8229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475569"/>
                </a:solidFill>
              </a:defRPr>
            </a:pPr>
            <a:r>
              <a:t>● Activation des 27 comptes en attente de confirmation (61% des inscrits)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813048"/>
            <a:ext cx="8229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475569"/>
                </a:solidFill>
              </a:defRPr>
            </a:pPr>
            <a:r>
              <a:t>● Enrichissement fondateurs : 1 068 startups sans fondateur identifié (objectif : -50% à J+30)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014216"/>
            <a:ext cx="8229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475569"/>
                </a:solidFill>
              </a:defRPr>
            </a:pPr>
            <a:r>
              <a:t>● Augmentation du contenu éditorial et des publications communautaires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215384"/>
            <a:ext cx="8229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475569"/>
                </a:solidFill>
              </a:defRPr>
            </a:pPr>
            <a:r>
              <a:t>● Déploiement d’une stratégie d’acquisition sur LinkedIn et les réseaux sociaux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45262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</a:defRPr>
            </a:pPr>
            <a:r>
              <a:t>Objectifs J+30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65760" y="4846320"/>
          <a:ext cx="54864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914400"/>
                <a:gridCol w="914400"/>
                <a:gridCol w="1371600"/>
              </a:tblGrid>
              <a:tr h="2743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OBJECTIF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ACTUEL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CIBLE J+30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PROGRESSION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F172A"/>
                          </a:solidFill>
                        </a:defRPr>
                      </a:pPr>
                      <a:r>
                        <a:t>Membres inscrits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44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200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22%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F172A"/>
                          </a:solidFill>
                        </a:defRPr>
                      </a:pPr>
                      <a:r>
                        <a:t>Startups avec fondateur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948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1 500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63%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F172A"/>
                          </a:solidFill>
                        </a:defRPr>
                      </a:pPr>
                      <a:r>
                        <a:t>Publications communauté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14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50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28%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F172A"/>
                          </a:solidFill>
                        </a:defRPr>
                      </a:pPr>
                      <a:r>
                        <a:t>Sessions / semaine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2 441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5 000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F172A"/>
                          </a:solidFill>
                        </a:defRPr>
                      </a:pPr>
                      <a:r>
                        <a:t>49%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9144000" cy="508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hepulse-no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"/>
            <a:ext cx="41148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5840" y="10972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7.  Accompagnement : Mentors &amp; Startups assignées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09728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Programme de mentorat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858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</a:defRPr>
            </a:pPr>
            <a:r>
              <a:t>Assignation Mentors — Startups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96012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4748B"/>
                </a:solidFill>
              </a:defRPr>
            </a:pPr>
            <a:r>
              <a:t>Chaque mentor accompagne un portefeuille de startups sélectionnées pour un suivi personnalisé.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325880"/>
            <a:ext cx="4114800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325880"/>
            <a:ext cx="4114800" cy="635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46304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172A"/>
                </a:solidFill>
              </a:defRPr>
            </a:pPr>
            <a:r>
              <a:t>Ali El Amrani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737360"/>
            <a:ext cx="3840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4748B"/>
                </a:solidFill>
              </a:defRPr>
            </a:pPr>
            <a:r>
              <a:t>Mentor  —  4 startups assignées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057400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011680"/>
            <a:ext cx="3566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F172A"/>
                </a:solidFill>
              </a:defRPr>
            </a:pPr>
            <a:r>
              <a:t>IndusTwin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331720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2286000"/>
            <a:ext cx="3566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F172A"/>
                </a:solidFill>
              </a:defRPr>
            </a:pPr>
            <a:r>
              <a:t>IrrigSense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606040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2560320"/>
            <a:ext cx="3566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F172A"/>
                </a:solidFill>
              </a:defRPr>
            </a:pPr>
            <a:r>
              <a:t>AeroMind Morocco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2880360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2834640"/>
            <a:ext cx="3566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F172A"/>
                </a:solidFill>
              </a:defRPr>
            </a:pPr>
            <a:r>
              <a:t>WAHGO Foods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663440" y="1325880"/>
            <a:ext cx="4114800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663440" y="1325880"/>
            <a:ext cx="4114800" cy="635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00600" y="146304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172A"/>
                </a:solidFill>
              </a:defRPr>
            </a:pPr>
            <a:r>
              <a:t>Youssef Mamou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737360"/>
            <a:ext cx="3840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4748B"/>
                </a:solidFill>
              </a:defRPr>
            </a:pPr>
            <a:r>
              <a:t>Mentor  —  5 startups assignées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46320" y="2057400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0" y="2011680"/>
            <a:ext cx="3566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F172A"/>
                </a:solidFill>
              </a:defRPr>
            </a:pPr>
            <a:r>
              <a:t>Investing For Everyone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846320" y="2331720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0" y="2286000"/>
            <a:ext cx="3566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F172A"/>
                </a:solidFill>
              </a:defRPr>
            </a:pPr>
            <a:r>
              <a:t>Igudar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846320" y="2606040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0" y="2560320"/>
            <a:ext cx="3566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F172A"/>
                </a:solidFill>
              </a:defRPr>
            </a:pPr>
            <a:r>
              <a:t>XPredictia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846320" y="2880360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0" y="2834640"/>
            <a:ext cx="3566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F172A"/>
                </a:solidFill>
              </a:defRPr>
            </a:pPr>
            <a:r>
              <a:t>SmartDiag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846320" y="3154680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0" y="3108960"/>
            <a:ext cx="3566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F172A"/>
                </a:solidFill>
              </a:defRPr>
            </a:pPr>
            <a:r>
              <a:t>SyanaTek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65760" y="3794760"/>
            <a:ext cx="4114800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65760" y="3794760"/>
            <a:ext cx="4114800" cy="635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920" y="393192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172A"/>
                </a:solidFill>
              </a:defRPr>
            </a:pPr>
            <a:r>
              <a:t>Tarik Fadli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4206240"/>
            <a:ext cx="3840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4748B"/>
                </a:solidFill>
              </a:defRPr>
            </a:pPr>
            <a:r>
              <a:t>Mentor  —  3 startups assignées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" y="4526280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" y="4480560"/>
            <a:ext cx="3566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F172A"/>
                </a:solidFill>
              </a:defRPr>
            </a:pPr>
            <a:r>
              <a:t>UM6P Instruments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48640" y="4800600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31520" y="4754880"/>
            <a:ext cx="3566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F172A"/>
                </a:solidFill>
              </a:defRPr>
            </a:pPr>
            <a:r>
              <a:t>GeoHeritage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48640" y="5074920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" y="5029200"/>
            <a:ext cx="3566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F172A"/>
                </a:solidFill>
              </a:defRPr>
            </a:pPr>
            <a:r>
              <a:t>G-ReLib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663440" y="3794760"/>
            <a:ext cx="4114800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663440" y="3794760"/>
            <a:ext cx="4114800" cy="635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800600" y="393192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172A"/>
                </a:solidFill>
              </a:defRPr>
            </a:pPr>
            <a:r>
              <a:t>Mohammed Damiri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00600" y="4206240"/>
            <a:ext cx="3840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4748B"/>
                </a:solidFill>
              </a:defRPr>
            </a:pPr>
            <a:r>
              <a:t>Mentor  —  2 startups assignées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846320" y="4526280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029200" y="4480560"/>
            <a:ext cx="3566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F172A"/>
                </a:solidFill>
              </a:defRPr>
            </a:pPr>
            <a:r>
              <a:t>DECAP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846320" y="4800600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029200" y="4754880"/>
            <a:ext cx="3566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F172A"/>
                </a:solidFill>
              </a:defRPr>
            </a:pPr>
            <a:r>
              <a:t>GreenFlow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65760" y="626364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475569"/>
                </a:solidFill>
              </a:defRPr>
            </a:pPr>
            <a:r>
              <a:t>4 mentors  |  14 startups accompagnées  |  Ratio moyen : 3,5 startups / mentor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6537960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4748B"/>
                </a:solidFill>
              </a:defRPr>
            </a:pPr>
            <a:r>
              <a:t>The Pulse  |  UM6P  |  thepulse.ma  |  Rapport généré le 12 avril 2026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943600" y="6537960"/>
            <a:ext cx="2926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64748B"/>
                </a:solidFill>
              </a:defRPr>
            </a:pPr>
            <a:r>
              <a:t>Page 8/8  |  Rapport partenaires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