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hepulse-bla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365760"/>
            <a:ext cx="3291840" cy="2194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Rapport J+8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Bilan de Lancement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880360"/>
            <a:ext cx="109728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Plateforme de données de l’écosystème startup marocain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</a:defRPr>
            </a:pPr>
            <a:r>
              <a:t>Période : 6 - 13 avril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8 jours après le lancement officiel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75569"/>
                </a:solidFill>
              </a:defRPr>
            </a:pPr>
            <a:r>
              <a:t>Rapport partenaires</a:t>
            </a:r>
          </a:p>
        </p:txBody>
      </p:sp>
      <p:pic>
        <p:nvPicPr>
          <p:cNvPr id="11" name="Picture 10" descr="um6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029200"/>
            <a:ext cx="50292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55778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</a:defRPr>
            </a:pPr>
            <a:r>
              <a:t>UM6P</a:t>
            </a:r>
          </a:p>
        </p:txBody>
      </p:sp>
      <p:pic>
        <p:nvPicPr>
          <p:cNvPr id="13" name="Picture 12" descr="logo_omtpme-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0" y="5029200"/>
            <a:ext cx="1653436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103120" y="55778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</a:defRPr>
            </a:pPr>
            <a:r>
              <a:t>OMTPME</a:t>
            </a:r>
          </a:p>
        </p:txBody>
      </p:sp>
      <p:pic>
        <p:nvPicPr>
          <p:cNvPr id="15" name="Picture 14" descr="tamwilcom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39" y="5029200"/>
            <a:ext cx="379155" cy="502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749039" y="55778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</a:defRPr>
            </a:pPr>
            <a:r>
              <a:t>Tamwilcom</a:t>
            </a:r>
          </a:p>
        </p:txBody>
      </p:sp>
      <p:pic>
        <p:nvPicPr>
          <p:cNvPr id="17" name="Picture 16" descr="amic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5029200"/>
            <a:ext cx="1005840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94960" y="55778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</a:defRPr>
            </a:pPr>
            <a:r>
              <a:t>AMIC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557784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</a:defRPr>
            </a:pPr>
            <a:r>
              <a:t>MTN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5029200"/>
            <a:ext cx="502920" cy="50292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50749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55778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</a:defRPr>
            </a:pPr>
            <a:r>
              <a:t>MESC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21792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The Pulse  |  UM6P  |  thepulse.ma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Document confidentiel - Rapport partenaires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hepulse-no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"/>
            <a:ext cx="41148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097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1.  Vue d’ensemble de la plateforme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The Pulse  |  J+8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Base de données écosystème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144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Données collectées, structurées et mises en ligne sur thepulse.ma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3444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34440"/>
            <a:ext cx="201168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8684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2 014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640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</a:defRPr>
            </a:pPr>
            <a:r>
              <a:t>STARTUPS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123444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14600" y="1234440"/>
            <a:ext cx="20116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138684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1 333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1640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</a:defRPr>
            </a:pPr>
            <a:r>
              <a:t>FONDATEURS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123444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1234440"/>
            <a:ext cx="20116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138684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51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1640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</a:defRPr>
            </a:pPr>
            <a:r>
              <a:t>INVESTISSEURS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123444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12280" y="1234440"/>
            <a:ext cx="2011680" cy="50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38684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$226.8M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16408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</a:defRPr>
            </a:pPr>
            <a:r>
              <a:t>FONDS LEVÉS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05740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2057400"/>
            <a:ext cx="201168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20980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171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4638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</a:defRPr>
            </a:pPr>
            <a:r>
              <a:t>TOURS DE TABLE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14600" y="205740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14600" y="2057400"/>
            <a:ext cx="20116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220980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24638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</a:defRPr>
            </a:pPr>
            <a:r>
              <a:t>INCUBATEURS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63440" y="205740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63440" y="2057400"/>
            <a:ext cx="20116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220980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1 265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24638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</a:defRPr>
            </a:pPr>
            <a:r>
              <a:t>LIENS STARTUP-FONDATEUR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12280" y="205740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12280" y="2057400"/>
            <a:ext cx="2011680" cy="508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12280" y="220980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24638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</a:defRPr>
            </a:pPr>
            <a:r>
              <a:t>RESSOURCES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2926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Détail de la base de données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365760" y="3246120"/>
          <a:ext cx="8412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22960"/>
                <a:gridCol w="5577840"/>
              </a:tblGrid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CATÉGORIE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NOMBRE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DÉTAIL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Startups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2 014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Répertoire complet des startups marocaines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Fondateurs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1 333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948 startups avec fondateur(s) identifié(s)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Investisseurs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Fonds d’investissement actifs au Maroc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Incubateurs / Accélérateurs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Programmes d’accompagnement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Tours de financement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171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Levées de fonds documentées ($226.8M total)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Experts référencés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Consultants et mentors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Ressources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Guides, rapports, outils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Articles / Actualités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Contenu éditorial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Membres inscrits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Comptes créés sur la plateforme (entrepreneurs, investisseurs, experts)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365760" y="649224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* Enrichissement continu : scraping multi-sources + validation manuelle. Objectif : 100% des startups avec fondateur(s) identifié(s).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hepulse-no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"/>
            <a:ext cx="41148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097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2.  Trafic &amp; Audience  (Google Analytics)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6 - 13 avril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Indicateurs clés de trafic  (7 jours)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05840"/>
            <a:ext cx="27432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58240"/>
            <a:ext cx="27432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2 665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41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</a:defRPr>
            </a:pPr>
            <a:r>
              <a:t>SESSIONS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00584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005840"/>
            <a:ext cx="274320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158240"/>
            <a:ext cx="27432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1 855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41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</a:defRPr>
            </a:pPr>
            <a:r>
              <a:t>UTILISATEURS ACTIFS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00584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005840"/>
            <a:ext cx="27432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158240"/>
            <a:ext cx="27432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1 748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41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</a:defRPr>
            </a:pPr>
            <a:r>
              <a:t>NOUVEAUX UTILISATEURS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182880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1828800"/>
            <a:ext cx="274320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1981200"/>
            <a:ext cx="27432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57,7%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2352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</a:defRPr>
            </a:pPr>
            <a:r>
              <a:t>TAUX D’ENGAGEMENT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182880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46120" y="1828800"/>
            <a:ext cx="2743200" cy="50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1981200"/>
            <a:ext cx="27432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1m 34s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22352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</a:defRPr>
            </a:pPr>
            <a:r>
              <a:t>DURÉE MOY. SESSION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182880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1828800"/>
            <a:ext cx="2743200" cy="508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1981200"/>
            <a:ext cx="27432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30 683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22352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</a:defRPr>
            </a:pPr>
            <a:r>
              <a:t>ÉVÉNEMENTS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2697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Sources d’acquisition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0175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Direct  —  1 378 (51,7%)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21868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Recherche organique (Google)  —  1 063 (39,9%)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41985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Réseaux sociaux (LinkedIn)  —  114 (4,3%)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62102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Referrals (Medias24, etc.)  —  63 (2,4%)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82219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Autres  —  47 (1,8%)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Répartition géographique des utilisateurs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365760" y="4480560"/>
          <a:ext cx="5394960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731520"/>
                <a:gridCol w="1188720"/>
                <a:gridCol w="1005840"/>
              </a:tblGrid>
              <a:tr h="27431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PAYS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UTILISATEURS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PART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TAUX ENGAGEMENT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DURÉE MOY.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Maroc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1 440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77,6%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55,2%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2m 18s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France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8,1%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61,5%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1m 42s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États-Unis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3,0%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35,8%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36s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Canada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1,8%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59,4%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1m 04s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Pays-Bas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1,0%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76,1%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3m 10s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Royaume-Uni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0,8%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56,3%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33s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Allemagne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0,6%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60,0%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1m 51s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Espagne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0,2%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50,0%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45s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365760" y="658368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Source : Google Analytics (G-9TTHWMF6L0) - Période du 6 au 13 avril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hepulse-no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"/>
            <a:ext cx="41148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097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3.  Pages les plus visitées &amp; Engagement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6 - 13 avril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Pages les plus consultées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005840"/>
          <a:ext cx="62179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731520"/>
                <a:gridCol w="1005840"/>
                <a:gridCol w="914400"/>
                <a:gridCol w="1371600"/>
              </a:tblGrid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VUES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UTILISATEURS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REBOND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VS MOYENNE*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Répertoire Startups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3 067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690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18,5%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▲ Page #1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Page d’accueil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1 892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1 310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35,2%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Rebond moyen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Rejoindre The Pulse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1 010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725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17,9%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▲ Fort intérêt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Répertoire Fondateurs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215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11,0%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▲ Très engagé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Répertoire Investisseurs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403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176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10,1%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▲ Très engagé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Se connecter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12,8%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▲ Engagé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Co-Fondateurs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282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195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9,2%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▲▲ Excellent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324612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</a:defRPr>
            </a:pPr>
            <a:r>
              <a:t>* Moyenne taux de rebond SaaS B2B : 40-60% (source : CXL / Contentsquare 2025). The Pulse est largement en dessous.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520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Tendance des visites (J1 → J8)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</a:defRPr>
            </a:pPr>
            <a:r>
              <a:t>J1 (6 avr)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1640" y="3858768"/>
            <a:ext cx="1582615" cy="182880"/>
          </a:xfrm>
          <a:prstGeom prst="roundRect">
            <a:avLst>
              <a:gd name="adj" fmla="val 15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5695" y="38404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F172A"/>
                </a:solidFill>
              </a:defRPr>
            </a:pPr>
            <a:r>
              <a:t>180 sess.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3308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</a:defRPr>
            </a:pPr>
            <a:r>
              <a:t>J2 (7 avr)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1640" y="4151376"/>
            <a:ext cx="1934307" cy="182880"/>
          </a:xfrm>
          <a:prstGeom prst="roundRect">
            <a:avLst>
              <a:gd name="adj" fmla="val 15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7387" y="41330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F172A"/>
                </a:solidFill>
              </a:defRPr>
            </a:pPr>
            <a:r>
              <a:t>220 sess.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2569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</a:defRPr>
            </a:pPr>
            <a:r>
              <a:t>J3 (8 avr)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91640" y="4443984"/>
            <a:ext cx="2549769" cy="1828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32849" y="442569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F172A"/>
                </a:solidFill>
              </a:defRPr>
            </a:pPr>
            <a:r>
              <a:t>290 sess.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1830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</a:defRPr>
            </a:pPr>
            <a:r>
              <a:t>J4 (9 avr)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91640" y="4736592"/>
            <a:ext cx="4572000" cy="182880"/>
          </a:xfrm>
          <a:prstGeom prst="roundRect">
            <a:avLst>
              <a:gd name="adj" fmla="val 15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71830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F172A"/>
                </a:solidFill>
              </a:defRPr>
            </a:pPr>
            <a:r>
              <a:t>520 sess.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1091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</a:defRPr>
            </a:pPr>
            <a:r>
              <a:t>J5 (10 avr)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91640" y="5029200"/>
            <a:ext cx="4220307" cy="182880"/>
          </a:xfrm>
          <a:prstGeom prst="roundRect">
            <a:avLst>
              <a:gd name="adj" fmla="val 15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03387" y="50109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F172A"/>
                </a:solidFill>
              </a:defRPr>
            </a:pPr>
            <a:r>
              <a:t>480 sess.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3035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</a:defRPr>
            </a:pPr>
            <a:r>
              <a:t>J6 (11 avr)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91640" y="5321808"/>
            <a:ext cx="3604846" cy="1828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87926" y="5303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F172A"/>
                </a:solidFill>
              </a:defRPr>
            </a:pPr>
            <a:r>
              <a:t>410 sess.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59612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</a:defRPr>
            </a:pPr>
            <a:r>
              <a:t>J7 (12 avr)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91640" y="5614416"/>
            <a:ext cx="2998176" cy="1828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81256" y="55961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F172A"/>
                </a:solidFill>
              </a:defRPr>
            </a:pPr>
            <a:r>
              <a:t>341 sess.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88873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F172A"/>
                </a:solidFill>
              </a:defRPr>
            </a:pPr>
            <a:r>
              <a:t>J8 (13 avr)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91640" y="5907024"/>
            <a:ext cx="1969476" cy="182880"/>
          </a:xfrm>
          <a:prstGeom prst="roundRect">
            <a:avLst>
              <a:gd name="adj" fmla="val 15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52556" y="588873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F172A"/>
                </a:solidFill>
              </a:defRPr>
            </a:pPr>
            <a:r>
              <a:t>224 sess.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94360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D4AA"/>
                </a:solidFill>
              </a:defRPr>
            </a:pPr>
            <a:r>
              <a:t>▲ Pic J4 (9 avril) : +189% vs J1 — effet du lancement LinkedIn + partage communauté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6217920"/>
            <a:ext cx="8412480" cy="50292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6217920"/>
            <a:ext cx="5080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2362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</a:defRPr>
            </a:pPr>
            <a:r>
              <a:t>Point clé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1908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334155"/>
                </a:solidFill>
              </a:defRPr>
            </a:pPr>
            <a:r>
              <a:t>Taux de rebond moyen de 16,6% vs 40-60% pour un SaaS B2B — les visiteurs explorent activement la plateforme. 44 inscriptions en 8 jours avec un pic à J4.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hepulse-no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"/>
            <a:ext cx="41148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097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4.  Communauté &amp; Membres inscrits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Au 13 avril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Inscriptions à la plateforme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005840"/>
            <a:ext cx="201168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5824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4122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</a:defRPr>
            </a:pPr>
            <a:r>
              <a:t>INSCRITS TOTAL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100584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14600" y="1005840"/>
            <a:ext cx="201168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115824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14122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</a:defRPr>
            </a:pPr>
            <a:r>
              <a:t>CONFIRMÉS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00584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63440" y="1005840"/>
            <a:ext cx="2011680" cy="50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15824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4122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</a:defRPr>
            </a:pPr>
            <a:r>
              <a:t>EN ATTENTE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100584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12280" y="1005840"/>
            <a:ext cx="201168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1158240"/>
            <a:ext cx="201168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14122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</a:defRPr>
            </a:pPr>
            <a:r>
              <a:t>AVEC PHOTO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187451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Répartition par rôle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19456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Entrepreneurs  —  35 (72,9%)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3957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Investisseurs  —  5 (10,4%)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596896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Experts  —  5 (10,4%)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798064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Programmes / Incubateurs  —  3 (6,3%)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108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Inscriptions par jour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4290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6 avril (lancement)  :  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6118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7 avril  :  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7947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8 avril  :  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9776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9 avril  :  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160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10 avril  :  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3434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11 avril  : 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52628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12 avril  : 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7091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13 avril  : 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4846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Engagement communautaire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365760" y="5166360"/>
          <a:ext cx="76809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22960"/>
                <a:gridCol w="4572000"/>
              </a:tblGrid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INDICATEUR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VALEUR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COMMENTAIRE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Messages directs échangés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Messagerie interne entre membres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Publications newsfeed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Posts de la communauté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Projets co-fondateur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Recherches de co-fondateurs actives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Membres avec mot de passe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Comptes pleinement activés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" name="Rounded Rectangle 39"/>
          <p:cNvSpPr/>
          <p:nvPr/>
        </p:nvSpPr>
        <p:spPr>
          <a:xfrm>
            <a:off x="365760" y="6263640"/>
            <a:ext cx="8412480" cy="502920"/>
          </a:xfrm>
          <a:prstGeom prst="roundRect">
            <a:avLst>
              <a:gd name="adj" fmla="val 6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6291072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🤝  Appel aux partenaires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510528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DAFF"/>
                </a:solidFill>
              </a:defRPr>
            </a:pPr>
            <a:r>
              <a:t>Aidez-nous à promouvoir The Pulse ! Partagez la plateforme avec vos réseaux, startups et communautés pour accélérer l’adoption.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hepulse-no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"/>
            <a:ext cx="41148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097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5.  Fonctionnalités déployées depuis le lancement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Produit &amp; Communauté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Évolution de la plateforme en 8 jours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1440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Au-delà de la base de données, The Pulse est devenue une plateforme communautaire active.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420624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280160"/>
            <a:ext cx="73152" cy="24688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5331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</a:defRPr>
            </a:pPr>
            <a:r>
              <a:t>Comptes &amp; Profils membres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6916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</a:defRPr>
            </a:pPr>
            <a:r>
              <a:t>• Création de compte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89280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75569"/>
                </a:solidFill>
              </a:defRPr>
            </a:pPr>
            <a:r>
              <a:t>Inscription via formulaires dédiés (entrepreneur, investisseur, expert).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1945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</a:defRPr>
            </a:pPr>
            <a:r>
              <a:t>• Profils enrichis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39572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75569"/>
                </a:solidFill>
              </a:defRPr>
            </a:pPr>
            <a:r>
              <a:t>Photo, bio, LinkedIn, compétences, parcours.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974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</a:defRPr>
            </a:pPr>
            <a:r>
              <a:t>• Édition &amp; mot de passe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89864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75569"/>
                </a:solidFill>
              </a:defRPr>
            </a:pPr>
            <a:r>
              <a:t>Modification des infos et gestion du mot de passe.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2004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</a:defRPr>
            </a:pPr>
            <a:r>
              <a:t>• Badge « New Pulser 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40156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75569"/>
                </a:solidFill>
              </a:defRPr>
            </a:pPr>
            <a:r>
              <a:t>Badge visuel sur les nouveaux membres inscrits.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1280160"/>
            <a:ext cx="420624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1280160"/>
            <a:ext cx="73152" cy="24688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135331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</a:defRPr>
            </a:pPr>
            <a:r>
              <a:t>Interactions &amp; Communauté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16916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</a:defRPr>
            </a:pPr>
            <a:r>
              <a:t>• Envoi de Pulses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189280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75569"/>
                </a:solidFill>
              </a:defRPr>
            </a:pPr>
            <a:r>
              <a:t>Bouton « Envoyer un Pulse » pour saluer un membre.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21945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</a:defRPr>
            </a:pPr>
            <a:r>
              <a:t>• Messagerie instantanée (Inbox)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239572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75569"/>
                </a:solidFill>
              </a:defRPr>
            </a:pPr>
            <a:r>
              <a:t>Conversations 1-to-1 entre membres.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69748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</a:defRPr>
            </a:pPr>
            <a:r>
              <a:t>• Newsfeed communautaire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289864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75569"/>
                </a:solidFill>
              </a:defRPr>
            </a:pPr>
            <a:r>
              <a:t>Publications, annonces, opportunités.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2004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</a:defRPr>
            </a:pPr>
            <a:r>
              <a:t>• Projets co-fondateur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340156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75569"/>
                </a:solidFill>
              </a:defRPr>
            </a:pPr>
            <a:r>
              <a:t>Espace dédié pour publier une recherche de co-fondateur.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3931920"/>
            <a:ext cx="420624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931920"/>
            <a:ext cx="73152" cy="2468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0050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</a:defRPr>
            </a:pPr>
            <a:r>
              <a:t>Répertoires &amp; Découverte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3434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</a:defRPr>
            </a:pPr>
            <a:r>
              <a:t>• Répertoire Startups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54456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75569"/>
                </a:solidFill>
              </a:defRPr>
            </a:pPr>
            <a:r>
              <a:t>2 014 startups avec filtres secteur, ville, stade.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8463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</a:defRPr>
            </a:pPr>
            <a:r>
              <a:t>• Répertoire Fondateurs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04748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75569"/>
                </a:solidFill>
              </a:defRPr>
            </a:pPr>
            <a:r>
              <a:t>1 333 fondateurs avec liens startups et LinkedIn.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3492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</a:defRPr>
            </a:pPr>
            <a:r>
              <a:t>• Répertoire Investisseurs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55040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75569"/>
                </a:solidFill>
              </a:defRPr>
            </a:pPr>
            <a:r>
              <a:t>51 fonds avec thèses et tickets documentés.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8521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</a:defRPr>
            </a:pPr>
            <a:r>
              <a:t>• Talent Marketplace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05332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75569"/>
                </a:solidFill>
              </a:defRPr>
            </a:pPr>
            <a:r>
              <a:t>Mise en relation talents / startups.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63440" y="3931920"/>
            <a:ext cx="420624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663440" y="3931920"/>
            <a:ext cx="73152" cy="24688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6320" y="40050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</a:defRPr>
            </a:pPr>
            <a:r>
              <a:t>Administration &amp; Opérations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0" y="434340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</a:defRPr>
            </a:pPr>
            <a:r>
              <a:t>• Admin Pulsers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83480" y="454456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75569"/>
                </a:solidFill>
              </a:defRPr>
            </a:pPr>
            <a:r>
              <a:t>Panneau d’administration des membres.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48463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</a:defRPr>
            </a:pPr>
            <a:r>
              <a:t>• Confirmation de compte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83480" y="504748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75569"/>
                </a:solidFill>
              </a:defRPr>
            </a:pPr>
            <a:r>
              <a:t>Workflow de validation des inscriptions.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0" y="534924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</a:defRPr>
            </a:pPr>
            <a:r>
              <a:t>• Gestion des inscriptions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83480" y="555040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75569"/>
                </a:solidFill>
              </a:defRPr>
            </a:pPr>
            <a:r>
              <a:t>Suivi des demandes en attente.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46320" y="585216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F172A"/>
                </a:solidFill>
              </a:defRPr>
            </a:pPr>
            <a:r>
              <a:t>• Analytics &amp; Rapports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83480" y="605332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475569"/>
                </a:solidFill>
              </a:defRPr>
            </a:pPr>
            <a:r>
              <a:t>Dashboards internes et génération de rapports PDF.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6537960"/>
            <a:ext cx="8412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</a:defRPr>
            </a:pPr>
            <a:r>
              <a:t>The Pulse — d’une base de données à une véritable plateforme communautaire en 8 jours.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hepulse-no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"/>
            <a:ext cx="41148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097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6.  Synthèse &amp; Prochaines étapes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Perspectives J+30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Synthèse J+8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</a:rPr>
              <a:t>● Audience forte  </a:t>
            </a:r>
            <a:r>
              <a:rPr sz="850">
                <a:solidFill>
                  <a:srgbClr val="475569"/>
                </a:solidFill>
              </a:rPr>
              <a:t>1 855 utilisateurs actifs et 2 665 sessions en 8 jours, principalement depuis le Maroc (78%).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</a:rPr>
              <a:t>● Acquisition organique  </a:t>
            </a:r>
            <a:r>
              <a:rPr sz="850">
                <a:solidFill>
                  <a:srgbClr val="475569"/>
                </a:solidFill>
              </a:rPr>
              <a:t>39,6% du trafic provient de la recherche Google, signe d’un bon référencement naturel.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</a:rPr>
              <a:t>● Engagement élevé  </a:t>
            </a:r>
            <a:r>
              <a:rPr sz="850">
                <a:solidFill>
                  <a:srgbClr val="475569"/>
                </a:solidFill>
              </a:rPr>
              <a:t>57,7% de taux d’engagement, durée moyenne de session de 1m 34s, 48 inscriptions effectives en 8 jours.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</a:rPr>
              <a:t>● Communauté naissante  </a:t>
            </a:r>
            <a:r>
              <a:rPr sz="850">
                <a:solidFill>
                  <a:srgbClr val="475569"/>
                </a:solidFill>
              </a:rPr>
              <a:t>48 membres inscrits dont 35 entrepreneurs, 5 investisseurs, 5 experts et 3 programmes.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</a:rPr>
              <a:t>● Base de données riche  </a:t>
            </a:r>
            <a:r>
              <a:rPr sz="850">
                <a:solidFill>
                  <a:srgbClr val="475569"/>
                </a:solidFill>
              </a:rPr>
              <a:t>2 014 startups, 1 333 fondateurs, 51 investisseurs, 171 tours de financement documentés.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F172A"/>
                </a:solidFill>
              </a:rPr>
              <a:t>● Rayonnement international  </a:t>
            </a:r>
            <a:r>
              <a:rPr sz="850">
                <a:solidFill>
                  <a:srgbClr val="475569"/>
                </a:solidFill>
              </a:rPr>
              <a:t>Visiteurs de 8+ pays, avec une diaspora active (France 8,5%, USA 3,2%, Canada 1,8%).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291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Axes d’amélioration identifiés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11880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● Activation des 26 comptes en attente de confirmation (54% des inscrits)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13048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● Enrichissement fondateurs : 1 068 startups sans fondateur identifié (objectif : -50% à J+30)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14216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● Augmentation du contenu éditorial et des publications communautaires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15384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</a:defRPr>
            </a:pPr>
            <a:r>
              <a:t>● Déploiement d’une stratégie d’acquisition sur LinkedIn et les réseaux sociaux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526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Objectifs J+30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65760" y="484632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914400"/>
                <a:gridCol w="1371600"/>
              </a:tblGrid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OBJECTIF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ACTUEL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CIBLE J+30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PROGRESSION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Membres inscrits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Startups avec fondateur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1 500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Publications communauté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F172A"/>
                          </a:solidFill>
                        </a:defRPr>
                      </a:pPr>
                      <a:r>
                        <a:t>Sessions / semaine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2 665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5 000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F172A"/>
                          </a:solidFill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9144000" cy="50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hepulse-no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"/>
            <a:ext cx="411480" cy="274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1097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7.  Accompagnement : Mentors &amp; Startups assignées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</a:defRPr>
            </a:pPr>
            <a:r>
              <a:t>Programme de mentorat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</a:defRPr>
            </a:pPr>
            <a:r>
              <a:t>Assignation Mentors — Startups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Chaque mentor accompagne un portefeuille de startups sélectionnées pour un suivi personnalisé.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25880"/>
            <a:ext cx="41148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4114800" cy="635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630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Ali El Amrani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73736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Mentor  —  4 startups assignées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0574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116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IndusTwin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3317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28600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IrrigSense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60604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6032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AeroMind Morocco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803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8346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WAHGO Foods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1325880"/>
            <a:ext cx="41148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63440" y="1325880"/>
            <a:ext cx="4114800" cy="635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14630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Youssef Mamou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73736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Mentor  —  5 startups assignées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6320" y="20574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20116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Investing For Everyone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6320" y="23317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228600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Igudar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260604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256032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XPredictia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20" y="28803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283464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SmartDiag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46320" y="315468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31089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SyanaTek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3794760"/>
            <a:ext cx="41148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3794760"/>
            <a:ext cx="4114800" cy="6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39319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Tarik Fadli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20624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Mentor  —  3 startups assignées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52628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4805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UM6P Instruments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48006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7548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GeoHeritage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0749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02920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G-ReLib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63440" y="3794760"/>
            <a:ext cx="41148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63440" y="3794760"/>
            <a:ext cx="4114800" cy="635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00600" y="39319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Mohammed Damiri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00600" y="4206240"/>
            <a:ext cx="3840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Mentor  —  2 startups assignées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46320" y="452628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0" y="44805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DECAP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46320" y="480060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0" y="475488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GreenFlow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626364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75569"/>
                </a:solidFill>
              </a:defRPr>
            </a:pPr>
            <a:r>
              <a:t>4 mentors  |  14 startups accompagnées  |  Ratio moyen : 3,5 startups / mentor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653796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The Pulse  |  UM6P  |  thepulse.ma  |  Rapport généré le 13 avril 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0" y="653796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</a:defRPr>
            </a:pPr>
            <a:r>
              <a:t>Page 8/8  |  Rapport partenaires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